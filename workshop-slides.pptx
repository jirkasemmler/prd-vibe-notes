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17"/>
    <p:sldId id="267" r:id="rId18"/>
    <p:sldId id="268" r:id="rId19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64008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spc="600" kern="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VIBE CODING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nápadu k deploynuté appce za 3 hodiny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 Your Way 2026  |  Brno  |  28. dubna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005840" y="3840480"/>
            <a:ext cx="1280160" cy="347472"/>
          </a:xfrm>
          <a:prstGeom prst="rect">
            <a:avLst/>
          </a:prstGeom>
          <a:solidFill>
            <a:srgbClr val="1E293B"/>
          </a:solidFill>
          <a:ln w="9525">
            <a:solidFill>
              <a:srgbClr val="38BDF8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05840" y="384048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68880" y="3840480"/>
            <a:ext cx="1280160" cy="347472"/>
          </a:xfrm>
          <a:prstGeom prst="rect">
            <a:avLst/>
          </a:prstGeom>
          <a:solidFill>
            <a:srgbClr val="1E293B"/>
          </a:solidFill>
          <a:ln w="9525">
            <a:solidFill>
              <a:srgbClr val="38BDF8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2468880" y="384048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931920" y="3840480"/>
            <a:ext cx="1280160" cy="347472"/>
          </a:xfrm>
          <a:prstGeom prst="rect">
            <a:avLst/>
          </a:prstGeom>
          <a:solidFill>
            <a:srgbClr val="1E293B"/>
          </a:solidFill>
          <a:ln w="9525">
            <a:solidFill>
              <a:srgbClr val="38BDF8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3931920" y="384048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94960" y="3840480"/>
            <a:ext cx="1280160" cy="347472"/>
          </a:xfrm>
          <a:prstGeom prst="rect">
            <a:avLst/>
          </a:prstGeom>
          <a:solidFill>
            <a:srgbClr val="1E293B"/>
          </a:solidFill>
          <a:ln w="9525">
            <a:solidFill>
              <a:srgbClr val="38BDF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394960" y="384048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858000" y="3840480"/>
            <a:ext cx="1280160" cy="347472"/>
          </a:xfrm>
          <a:prstGeom prst="rect">
            <a:avLst/>
          </a:prstGeom>
          <a:solidFill>
            <a:srgbClr val="1E293B"/>
          </a:solidFill>
          <a:ln w="9525">
            <a:solidFill>
              <a:srgbClr val="38BDF8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858000" y="384048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PRŮBĚH WORKSHOPU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hodiny od nápadu k živé URL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88720" cy="2194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45920"/>
            <a:ext cx="1188720" cy="4572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9202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4688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3017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982980" y="3429000"/>
            <a:ext cx="320040" cy="320040"/>
          </a:xfrm>
          <a:prstGeom prst="oval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82980" y="3429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920240" y="1645920"/>
            <a:ext cx="1188720" cy="2194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920240" y="1645920"/>
            <a:ext cx="1188720" cy="45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60" y="192024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920240" y="24688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920240" y="3017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2354580" y="3429000"/>
            <a:ext cx="320040" cy="320040"/>
          </a:xfrm>
          <a:prstGeom prst="oval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2354580" y="3429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291840" y="1645920"/>
            <a:ext cx="1188720" cy="2194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3291840" y="1645920"/>
            <a:ext cx="1188720" cy="45720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p/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460" y="1920240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291840" y="24688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3291840" y="3017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3726180" y="3429000"/>
            <a:ext cx="320040" cy="320040"/>
          </a:xfrm>
          <a:prstGeom prst="oval">
            <a:avLst/>
          </a:prstGeom>
          <a:solidFill>
            <a:srgbClr val="FB923C"/>
          </a:solidFill>
          <a:ln/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3726180" y="3429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663440" y="1645920"/>
            <a:ext cx="1188720" cy="2194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4663440" y="1645920"/>
            <a:ext cx="1188720" cy="45720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p/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060" y="192024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663440" y="24688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v1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4663440" y="3017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5097780" y="3429000"/>
            <a:ext cx="320040" cy="320040"/>
          </a:xfrm>
          <a:prstGeom prst="oval">
            <a:avLst/>
          </a:prstGeom>
          <a:solidFill>
            <a:srgbClr val="F472B6"/>
          </a:solidFill>
          <a:ln/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5097780" y="3429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6035040" y="1645920"/>
            <a:ext cx="1188720" cy="2194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33" name="Shape 27"/>
          <p:cNvSpPr/>
          <p:nvPr/>
        </p:nvSpPr>
        <p:spPr>
          <a:xfrm>
            <a:off x="6035040" y="1645920"/>
            <a:ext cx="118872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p/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3660" y="1920240"/>
            <a:ext cx="411480" cy="41148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6035040" y="24688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Iterate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6035040" y="3017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6469380" y="3429000"/>
            <a:ext cx="320040" cy="320040"/>
          </a:xfrm>
          <a:prstGeom prst="oval">
            <a:avLst/>
          </a:prstGeom>
          <a:solidFill>
            <a:srgbClr val="A78BFA"/>
          </a:solidFill>
          <a:ln/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469380" y="3429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7406640" y="1645920"/>
            <a:ext cx="1188720" cy="2194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40" name="Shape 33"/>
          <p:cNvSpPr/>
          <p:nvPr/>
        </p:nvSpPr>
        <p:spPr>
          <a:xfrm>
            <a:off x="7406640" y="1645920"/>
            <a:ext cx="1188720" cy="4572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1920240"/>
            <a:ext cx="411480" cy="411480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7406640" y="24688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&amp; Tell</a:t>
            </a:r>
            <a:endParaRPr lang="en-US" sz="1200" dirty="0"/>
          </a:p>
        </p:txBody>
      </p:sp>
      <p:sp>
        <p:nvSpPr>
          <p:cNvPr id="43" name="Text 35"/>
          <p:cNvSpPr/>
          <p:nvPr/>
        </p:nvSpPr>
        <p:spPr>
          <a:xfrm>
            <a:off x="7406640" y="3017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44" name="Shape 36"/>
          <p:cNvSpPr/>
          <p:nvPr/>
        </p:nvSpPr>
        <p:spPr>
          <a:xfrm>
            <a:off x="7840980" y="3429000"/>
            <a:ext cx="320040" cy="320040"/>
          </a:xfrm>
          <a:prstGeom prst="oval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45" name="Text 37"/>
          <p:cNvSpPr/>
          <p:nvPr/>
        </p:nvSpPr>
        <p:spPr>
          <a:xfrm>
            <a:off x="7840980" y="3429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38"/>
          <p:cNvSpPr/>
          <p:nvPr/>
        </p:nvSpPr>
        <p:spPr>
          <a:xfrm>
            <a:off x="1755648" y="23774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47" name="Text 39"/>
          <p:cNvSpPr/>
          <p:nvPr/>
        </p:nvSpPr>
        <p:spPr>
          <a:xfrm>
            <a:off x="3127248" y="23774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48" name="Text 40"/>
          <p:cNvSpPr/>
          <p:nvPr/>
        </p:nvSpPr>
        <p:spPr>
          <a:xfrm>
            <a:off x="4498848" y="23774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49" name="Text 41"/>
          <p:cNvSpPr/>
          <p:nvPr/>
        </p:nvSpPr>
        <p:spPr>
          <a:xfrm>
            <a:off x="5870448" y="23774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50" name="Text 42"/>
          <p:cNvSpPr/>
          <p:nvPr/>
        </p:nvSpPr>
        <p:spPr>
          <a:xfrm>
            <a:off x="7242048" y="23774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51" name="Shape 43"/>
          <p:cNvSpPr/>
          <p:nvPr/>
        </p:nvSpPr>
        <p:spPr>
          <a:xfrm>
            <a:off x="457200" y="4206240"/>
            <a:ext cx="8229600" cy="36576"/>
          </a:xfrm>
          <a:prstGeom prst="rect">
            <a:avLst/>
          </a:prstGeom>
          <a:solidFill>
            <a:srgbClr val="94A3B8">
              <a:alpha val="30000"/>
            </a:srgbClr>
          </a:solidFill>
          <a:ln/>
        </p:spPr>
        <p:txBody>
          <a:bodyPr/>
          <a:p/>
        </p:txBody>
      </p:sp>
      <p:sp>
        <p:nvSpPr>
          <p:cNvPr id="52" name="Shape 44"/>
          <p:cNvSpPr/>
          <p:nvPr/>
        </p:nvSpPr>
        <p:spPr>
          <a:xfrm>
            <a:off x="420624" y="4187952"/>
            <a:ext cx="73152" cy="73152"/>
          </a:xfrm>
          <a:prstGeom prst="oval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53" name="Text 45"/>
          <p:cNvSpPr/>
          <p:nvPr/>
        </p:nvSpPr>
        <p:spPr>
          <a:xfrm>
            <a:off x="182880" y="4297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0:00</a:t>
            </a:r>
            <a:endParaRPr lang="en-US" sz="800" dirty="0"/>
          </a:p>
        </p:txBody>
      </p:sp>
      <p:sp>
        <p:nvSpPr>
          <p:cNvPr id="54" name="Shape 46"/>
          <p:cNvSpPr/>
          <p:nvPr/>
        </p:nvSpPr>
        <p:spPr>
          <a:xfrm>
            <a:off x="877824" y="4187952"/>
            <a:ext cx="73152" cy="73152"/>
          </a:xfrm>
          <a:prstGeom prst="oval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55" name="Text 47"/>
          <p:cNvSpPr/>
          <p:nvPr/>
        </p:nvSpPr>
        <p:spPr>
          <a:xfrm>
            <a:off x="640080" y="4297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0:10</a:t>
            </a:r>
            <a:endParaRPr lang="en-US" sz="800" dirty="0"/>
          </a:p>
        </p:txBody>
      </p:sp>
      <p:sp>
        <p:nvSpPr>
          <p:cNvPr id="56" name="Shape 48"/>
          <p:cNvSpPr/>
          <p:nvPr/>
        </p:nvSpPr>
        <p:spPr>
          <a:xfrm>
            <a:off x="1792224" y="4187952"/>
            <a:ext cx="73152" cy="73152"/>
          </a:xfrm>
          <a:prstGeom prst="oval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57" name="Text 49"/>
          <p:cNvSpPr/>
          <p:nvPr/>
        </p:nvSpPr>
        <p:spPr>
          <a:xfrm>
            <a:off x="1554480" y="4297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800" dirty="0"/>
          </a:p>
        </p:txBody>
      </p:sp>
      <p:sp>
        <p:nvSpPr>
          <p:cNvPr id="58" name="Shape 50"/>
          <p:cNvSpPr/>
          <p:nvPr/>
        </p:nvSpPr>
        <p:spPr>
          <a:xfrm>
            <a:off x="2935224" y="4187952"/>
            <a:ext cx="73152" cy="73152"/>
          </a:xfrm>
          <a:prstGeom prst="oval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59" name="Text 51"/>
          <p:cNvSpPr/>
          <p:nvPr/>
        </p:nvSpPr>
        <p:spPr>
          <a:xfrm>
            <a:off x="2697480" y="4297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0:55</a:t>
            </a:r>
            <a:endParaRPr lang="en-US" sz="800" dirty="0"/>
          </a:p>
        </p:txBody>
      </p:sp>
      <p:sp>
        <p:nvSpPr>
          <p:cNvPr id="60" name="Shape 52"/>
          <p:cNvSpPr/>
          <p:nvPr/>
        </p:nvSpPr>
        <p:spPr>
          <a:xfrm>
            <a:off x="4306824" y="4187952"/>
            <a:ext cx="73152" cy="73152"/>
          </a:xfrm>
          <a:prstGeom prst="oval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61" name="Text 53"/>
          <p:cNvSpPr/>
          <p:nvPr/>
        </p:nvSpPr>
        <p:spPr>
          <a:xfrm>
            <a:off x="4069080" y="4297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1:25</a:t>
            </a:r>
            <a:endParaRPr lang="en-US" sz="800" dirty="0"/>
          </a:p>
        </p:txBody>
      </p:sp>
      <p:sp>
        <p:nvSpPr>
          <p:cNvPr id="62" name="Shape 54"/>
          <p:cNvSpPr/>
          <p:nvPr/>
        </p:nvSpPr>
        <p:spPr>
          <a:xfrm>
            <a:off x="7050024" y="4187952"/>
            <a:ext cx="73152" cy="73152"/>
          </a:xfrm>
          <a:prstGeom prst="oval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63" name="Text 55"/>
          <p:cNvSpPr/>
          <p:nvPr/>
        </p:nvSpPr>
        <p:spPr>
          <a:xfrm>
            <a:off x="6812280" y="4297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2:25</a:t>
            </a:r>
            <a:endParaRPr lang="en-US" sz="800" dirty="0"/>
          </a:p>
        </p:txBody>
      </p:sp>
      <p:sp>
        <p:nvSpPr>
          <p:cNvPr id="64" name="Shape 56"/>
          <p:cNvSpPr/>
          <p:nvPr/>
        </p:nvSpPr>
        <p:spPr>
          <a:xfrm>
            <a:off x="8650224" y="4187952"/>
            <a:ext cx="73152" cy="73152"/>
          </a:xfrm>
          <a:prstGeom prst="oval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65" name="Text 57"/>
          <p:cNvSpPr/>
          <p:nvPr/>
        </p:nvSpPr>
        <p:spPr>
          <a:xfrm>
            <a:off x="8412480" y="4297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3:00</a:t>
            </a:r>
            <a:endParaRPr lang="en-US" sz="800" dirty="0"/>
          </a:p>
        </p:txBody>
      </p:sp>
      <p:sp>
        <p:nvSpPr>
          <p:cNvPr id="66" name="Shape 5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67" name="Text 5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 JE VIBE CODING?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97280"/>
            <a:ext cx="54864" cy="109728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18872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just see stuff, say stuff, run stuff, and copy-paste stuff,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mostly works."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Andrej Karpathy, 2025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384048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2697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Klasický vývoj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1089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Napiš kód ručně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Debuguj přes Stack Overflow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Řeš framework specifika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Hodiny → dny → týdny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46320" y="2560320"/>
            <a:ext cx="384048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846320" y="2560320"/>
            <a:ext cx="3840480" cy="4572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46320" y="2697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212080" y="31089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Popiš co chceš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vygeneruje kód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Iteruj přes prompty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Minuty → hodiny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60520" y="3291840"/>
            <a:ext cx="457200" cy="457200"/>
          </a:xfrm>
          <a:prstGeom prst="oval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16052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PROČ ZAČÍT PRODUKTEM, NE KÓDEM?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bez zadání = náhodné bloudění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3716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potřebuje jasné zadání — stejně jako lidský vývojář. PRD je ten zadávací dokument.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377440"/>
            <a:ext cx="1371600" cy="914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2377440"/>
            <a:ext cx="1371600" cy="4572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514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Problém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řešíme?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98548" y="26060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286000" y="2377440"/>
            <a:ext cx="1371600" cy="914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286000" y="2377440"/>
            <a:ext cx="1371600" cy="45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286000" y="2514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8600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Jak to vypadá?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98748" y="26060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86200" y="2377440"/>
            <a:ext cx="1371600" cy="914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886200" y="2377440"/>
            <a:ext cx="1371600" cy="45720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886200" y="2514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8620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říct AI?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98948" y="26060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0" y="2377440"/>
            <a:ext cx="1371600" cy="914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486400" y="2377440"/>
            <a:ext cx="1371600" cy="45720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486400" y="2514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Kód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generuje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99148" y="26060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086600" y="2377440"/>
            <a:ext cx="1371600" cy="914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086600" y="2377440"/>
            <a:ext cx="137160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086600" y="2514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8660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Živá URL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657600"/>
            <a:ext cx="3840480" cy="914400"/>
          </a:xfrm>
          <a:prstGeom prst="rect">
            <a:avLst/>
          </a:prstGeom>
          <a:solidFill>
            <a:srgbClr val="2D1215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862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373075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 PRD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097280" y="4069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"Udělej mi appku" → AI hádá, ty opravuješ, scope se rozlézá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846320" y="3657600"/>
            <a:ext cx="3840480" cy="914400"/>
          </a:xfrm>
          <a:prstGeom prst="rect">
            <a:avLst/>
          </a:prstGeom>
          <a:solidFill>
            <a:srgbClr val="0D2818"/>
          </a:solidFill>
          <a:ln/>
        </p:spPr>
        <p:txBody>
          <a:bodyPr/>
          <a:p/>
        </p:txBody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886200"/>
            <a:ext cx="365760" cy="365760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486400" y="373075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PRD</a:t>
            </a:r>
            <a:endParaRPr lang="en-US" sz="1300" dirty="0"/>
          </a:p>
        </p:txBody>
      </p:sp>
      <p:sp>
        <p:nvSpPr>
          <p:cNvPr id="38" name="Text 34"/>
          <p:cNvSpPr/>
          <p:nvPr/>
        </p:nvSpPr>
        <p:spPr>
          <a:xfrm>
            <a:off x="5486400" y="4069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Jasný scope, datový model, user stories → AI ví přesně co má dělat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40" name="Text 3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ANATOMIE PRD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by měl správný PRD obsahovat — a co pro workshop stačí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840480" cy="3200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554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by-the-book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Problém a kontext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Cílový uživatel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Cíle a metriky úspěchu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stories / use cases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(in/out)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Funkční požadavky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Nefunkční požadavky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Datový model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Závislosti a rizika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Časový rámec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463040"/>
            <a:ext cx="3840480" cy="3200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846320" y="1463040"/>
            <a:ext cx="3840480" cy="45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846320" y="1554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Náš workshop PRD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120640" y="2103120"/>
            <a:ext cx="201168" cy="201168"/>
          </a:xfrm>
          <a:prstGeom prst="oval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20640" y="210312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40680" y="20391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Problém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225856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řešíme a proč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20640" y="2606040"/>
            <a:ext cx="201168" cy="201168"/>
          </a:xfrm>
          <a:prstGeom prst="oval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120640" y="260604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40680" y="254203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Cílový uživatel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40680" y="276148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koho to je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120640" y="3108960"/>
            <a:ext cx="201168" cy="201168"/>
          </a:xfrm>
          <a:prstGeom prst="oval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120640" y="310896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40680" y="304495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stories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40680" y="326440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3–5 hlavních akcí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120640" y="3611880"/>
            <a:ext cx="201168" cy="201168"/>
          </a:xfrm>
          <a:prstGeom prst="oval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120640" y="361188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40680" y="35478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(in/out)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376732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je MVP, co ne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20640" y="4114800"/>
            <a:ext cx="201168" cy="201168"/>
          </a:xfrm>
          <a:prstGeom prst="oval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120640" y="41148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40680" y="405079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Datový model + SQL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40680" y="427024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Tabulky pro Supabase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206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NÁŠ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Všechno managed, free tier, jeden příkaz na deploy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63040"/>
            <a:ext cx="54864" cy="73152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508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+ API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framework s App Routerem, TypeScript, Tailwind CSS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8229600" cy="7315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2331720"/>
            <a:ext cx="54864" cy="7315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Databáze + Auth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3317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PostgreSQL, Row Level Security, email autentizace, SQL editor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4864" cy="731520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31520" y="3246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" y="3566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+ CI/CD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43200" y="32004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= auto deploy, preview URLs, environment variables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229600" cy="7315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7200" y="4069080"/>
            <a:ext cx="54864" cy="7315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31520" y="4114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1520" y="4434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asistent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43200" y="40690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Terminálový nástroj, čte kód, generuje, debuguje, iteruje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PRD AGENT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vás provede tvorbou PRD krok po kroku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0292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463040"/>
            <a:ext cx="36576" cy="438912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463040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 Jaký problém chceš řešit? Popiš mi to jako bys to vysvětloval kamarádovi.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017520" y="1993392"/>
            <a:ext cx="50292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017520" y="1993392"/>
            <a:ext cx="36576" cy="43891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1993392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Ty: Chci systém na rezervaci zasedaček v kanceláři.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523744"/>
            <a:ext cx="50292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31520" y="2523744"/>
            <a:ext cx="36576" cy="438912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2523744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 Pro koho to je? Ty sám, tvůj tým, celá firma?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017520" y="3054096"/>
            <a:ext cx="50292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017520" y="3054096"/>
            <a:ext cx="36576" cy="43891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200400" y="3054096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Ty: Celý tým, asi 20 lidí.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584448"/>
            <a:ext cx="50292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3584448"/>
            <a:ext cx="36576" cy="438912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3584448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 Jaké 3 hlavní věci bys v appce chtěl dělat?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279392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051560" y="420624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Výstup: hotové PRD s user stories, scope a SQL pro Supabase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PROMPTOVACÍ TIPY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97280"/>
            <a:ext cx="54864" cy="8229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143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Buď konkrétní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651760" y="11430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"Přidej tlačítko pro smazání u každé položky v seznamu"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51760" y="150876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"Přidej mazání"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822960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057400"/>
            <a:ext cx="54864" cy="82296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1031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Malé kroky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21031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Jeden prompt = jedna feature nebo fix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4688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"Udělej celou appku najednou"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" y="3017520"/>
            <a:ext cx="54864" cy="822960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30632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Dej kontext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51760" y="30632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"Mám tabulku todos se sloupci id, title, done. Přidej filtr."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51760" y="34290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"Přidej filtr"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3977640"/>
            <a:ext cx="54864" cy="822960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023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Když AI bloudí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651760" y="402336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"Stop. Vrať se k jednoduššímu řešení."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51760" y="43891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Dalších 5 promptů na opravu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 FLOW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lokálního kódu k živé URL ve 3 příkazech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868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91640"/>
            <a:ext cx="411480" cy="411480"/>
          </a:xfrm>
          <a:prstGeom prst="oval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691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5544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 &amp;&amp; git commit -m "v1"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19659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Commitni změny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8229600" cy="868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5800" y="2743200"/>
            <a:ext cx="411480" cy="411480"/>
          </a:xfrm>
          <a:prstGeom prst="oval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2743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606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repo create --public --source=. --push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3017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Vytvoř GitHub repo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85800" y="3794760"/>
            <a:ext cx="411480" cy="411480"/>
          </a:xfrm>
          <a:prstGeom prst="oval">
            <a:avLst/>
          </a:prstGeom>
          <a:solidFill>
            <a:srgbClr val="F472B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5800" y="37947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 → Import → Deploy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4069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Propoj s Vercelem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0D2818"/>
          </a:solidFill>
          <a:ln/>
        </p:spPr>
        <p:txBody>
          <a:bodyPr/>
          <a:p/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69080"/>
            <a:ext cx="365760" cy="36576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188720" y="3931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Redeploy = jen git push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188720" y="42976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 &amp;&amp; git commit -m "nová feature" &amp;&amp; git push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188720"/>
            <a:ext cx="54864" cy="77724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53312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234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Začni produktem, ne kódem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371600" y="16002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→ prompt → kód. AI potřebuje jasné zadání.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57200" y="2103120"/>
            <a:ext cx="54864" cy="777240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67712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1488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Deployuj brzo a často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371600" y="2514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Nečekej na "hotovo". Každý push = nová verze.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7200" y="3017520"/>
            <a:ext cx="82296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457200" y="3017520"/>
            <a:ext cx="54864" cy="77724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82112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063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Iteruj v malých krocích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371600" y="3429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Jeden prompt = jedna feature. Malé kroky, velký pokrok.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457200" y="3931920"/>
            <a:ext cx="54864" cy="777240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p/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096512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9776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Znát limity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371600" y="43434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= prototypy a MVP. Komplexní systémy vyžadují engineering.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F8FAFC"/>
                </a:solidFill>
                <a:latin typeface="Arial Black"/>
              </a:rPr>
              <a:t>KRÁTKÝ PROMPT = NÁHODNÝ VÝSLEDEK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Arial"/>
              </a:rPr>
              <a:t>Stejný prompt, 4 úplně jiné appky — AI musí hádat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Arial"/>
              </a:rPr>
              <a:t>5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1371600"/>
            <a:ext cx="4572000" cy="50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1371600"/>
            <a:ext cx="54864" cy="500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1371600"/>
            <a:ext cx="429768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1">
                <a:solidFill>
                  <a:srgbClr val="F8FAFC"/>
                </a:solidFill>
                <a:latin typeface="Arial"/>
              </a:rPr>
              <a:t>„Udělej mi TODO list"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4350" y="1920000"/>
            <a:ext cx="5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  <a:latin typeface="Arial"/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250000"/>
            <a:ext cx="2068830" cy="1760000"/>
          </a:xfrm>
          <a:prstGeom prst="rect">
            <a:avLst/>
          </a:prstGeom>
          <a:solidFill>
            <a:srgbClr val="0F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2250000"/>
            <a:ext cx="2068830" cy="1828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68000"/>
            <a:ext cx="1885950" cy="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8FAFC"/>
                </a:solidFill>
                <a:latin typeface="Arial"/>
              </a:rPr>
              <a:t>TODO  /  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470000"/>
            <a:ext cx="567690" cy="151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490000"/>
            <a:ext cx="47625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Arial"/>
              </a:rPr>
              <a:t>To 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30000"/>
            <a:ext cx="476250" cy="14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815720"/>
            <a:ext cx="476250" cy="14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" y="2470000"/>
            <a:ext cx="567690" cy="151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170" y="2490000"/>
            <a:ext cx="47625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BBF24"/>
                </a:solidFill>
                <a:latin typeface="Arial"/>
              </a:rPr>
              <a:t>Doing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9170" y="2630000"/>
            <a:ext cx="476250" cy="14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9170" y="2815720"/>
            <a:ext cx="476250" cy="14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46860" y="2470000"/>
            <a:ext cx="567690" cy="151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92580" y="2490000"/>
            <a:ext cx="47625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4D399"/>
                </a:solidFill>
                <a:latin typeface="Arial"/>
              </a:rPr>
              <a:t>Done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92580" y="2630000"/>
            <a:ext cx="476250" cy="14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" y="4055720"/>
            <a:ext cx="2068830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Arial"/>
              </a:rPr>
              <a:t>Kanban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" y="4205720"/>
            <a:ext cx="206883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Arial"/>
              </a:rPr>
              <a:t>Trello-like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34590" y="2250000"/>
            <a:ext cx="2068830" cy="1760000"/>
          </a:xfrm>
          <a:prstGeom prst="rect">
            <a:avLst/>
          </a:prstGeom>
          <a:solidFill>
            <a:srgbClr val="0F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34590" y="2250000"/>
            <a:ext cx="2068830" cy="1828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26030" y="2268000"/>
            <a:ext cx="1885950" cy="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8FAFC"/>
                </a:solidFill>
                <a:latin typeface="Arial"/>
              </a:rPr>
              <a:t>TODO  /  Focus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34590" y="2530000"/>
            <a:ext cx="206883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F87171"/>
                </a:solidFill>
                <a:latin typeface="Consolas"/>
              </a:rPr>
              <a:t>25:00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26030" y="2870000"/>
            <a:ext cx="188595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8FAFC"/>
                </a:solidFill>
                <a:latin typeface="Arial"/>
              </a:rPr>
              <a:t>▶  Write report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26030" y="3000000"/>
            <a:ext cx="188595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Arial"/>
              </a:rPr>
              <a:t>○  Review PR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26030" y="3130000"/>
            <a:ext cx="188595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Arial"/>
              </a:rPr>
              <a:t>○  Deploy fix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34590" y="4055720"/>
            <a:ext cx="2068830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87171"/>
                </a:solidFill>
                <a:latin typeface="Arial"/>
              </a:rPr>
              <a:t>Pomodoro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4590" y="4205720"/>
            <a:ext cx="206883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Arial"/>
              </a:rPr>
              <a:t>Focus timer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40580" y="2250000"/>
            <a:ext cx="2068830" cy="1760000"/>
          </a:xfrm>
          <a:prstGeom prst="rect">
            <a:avLst/>
          </a:prstGeom>
          <a:solidFill>
            <a:srgbClr val="0F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40580" y="2250000"/>
            <a:ext cx="2068830" cy="1828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32020" y="2268000"/>
            <a:ext cx="1885950" cy="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8FAFC"/>
                </a:solidFill>
                <a:latin typeface="Arial"/>
              </a:rPr>
              <a:t>TODO  /  Quick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40580" y="2480000"/>
            <a:ext cx="1668830" cy="1480000"/>
          </a:xfrm>
          <a:prstGeom prst="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880580" y="2530000"/>
            <a:ext cx="1588830" cy="25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80580" y="2530000"/>
            <a:ext cx="30000" cy="256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5580" y="2530000"/>
            <a:ext cx="1528830" cy="25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F8FAFC"/>
                </a:solidFill>
                <a:latin typeface="Arial"/>
              </a:rPr>
              <a:t>Buy groceries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80580" y="2811000"/>
            <a:ext cx="1588830" cy="25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80580" y="2811000"/>
            <a:ext cx="30000" cy="2560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5580" y="2811000"/>
            <a:ext cx="1528830" cy="25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F8FAFC"/>
                </a:solidFill>
                <a:latin typeface="Arial"/>
              </a:rPr>
              <a:t>Call mom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80580" y="3092000"/>
            <a:ext cx="1588830" cy="25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80580" y="3092000"/>
            <a:ext cx="30000" cy="256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5580" y="3092000"/>
            <a:ext cx="1528830" cy="25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F8FAFC"/>
                </a:solidFill>
                <a:latin typeface="Arial"/>
              </a:rPr>
              <a:t>Gym @6pm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80580" y="3373000"/>
            <a:ext cx="1588830" cy="25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880580" y="3373000"/>
            <a:ext cx="30000" cy="2560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5580" y="3373000"/>
            <a:ext cx="1528830" cy="25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F8FAFC"/>
                </a:solidFill>
                <a:latin typeface="Arial"/>
              </a:rPr>
              <a:t>Fix sink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80580" y="3654000"/>
            <a:ext cx="1588830" cy="25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880580" y="3654000"/>
            <a:ext cx="30000" cy="256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35580" y="3654000"/>
            <a:ext cx="1528830" cy="25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F8FAFC"/>
                </a:solidFill>
                <a:latin typeface="Arial"/>
              </a:rPr>
              <a:t>Read 20p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40580" y="4055720"/>
            <a:ext cx="2068830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8BDF8"/>
                </a:solidFill>
                <a:latin typeface="Arial"/>
              </a:rPr>
              <a:t>Quick list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40580" y="4205720"/>
            <a:ext cx="206883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Arial"/>
              </a:rPr>
              <a:t>Mobile swipe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46570" y="2250000"/>
            <a:ext cx="2068830" cy="1760000"/>
          </a:xfrm>
          <a:prstGeom prst="rect">
            <a:avLst/>
          </a:prstGeom>
          <a:solidFill>
            <a:srgbClr val="0F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46570" y="2250000"/>
            <a:ext cx="2068830" cy="1828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38010" y="2268000"/>
            <a:ext cx="1885950" cy="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8FAFC"/>
                </a:solidFill>
                <a:latin typeface="Arial"/>
              </a:rPr>
              <a:t>TODO  /  Team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38010" y="2480000"/>
            <a:ext cx="1885950" cy="14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981570" y="2500000"/>
            <a:ext cx="100000" cy="1000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81570" y="2500000"/>
            <a:ext cx="100000" cy="1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8FAFC"/>
                </a:solidFill>
                <a:latin typeface="Arial"/>
              </a:rPr>
              <a:t>JS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11570" y="2480000"/>
            <a:ext cx="10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34D399"/>
                </a:solidFill>
                <a:latin typeface="Arial"/>
              </a:rPr>
              <a:t>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11570" y="2480000"/>
            <a:ext cx="160883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Arial"/>
              </a:rPr>
              <a:t>Deploy v2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38010" y="2640000"/>
            <a:ext cx="1885950" cy="14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981570" y="2660000"/>
            <a:ext cx="100000" cy="10000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81570" y="2660000"/>
            <a:ext cx="100000" cy="1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8FAFC"/>
                </a:solidFill>
                <a:latin typeface="Arial"/>
              </a:rPr>
              <a:t>AK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11570" y="2640000"/>
            <a:ext cx="10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Arial"/>
              </a:rPr>
              <a:t>☐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11570" y="2640000"/>
            <a:ext cx="160883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F8FAFC"/>
                </a:solidFill>
                <a:latin typeface="Arial"/>
              </a:rPr>
              <a:t>Review PR #42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38010" y="2800000"/>
            <a:ext cx="1885950" cy="14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981570" y="2820000"/>
            <a:ext cx="100000" cy="1000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981570" y="2820000"/>
            <a:ext cx="100000" cy="1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8FAFC"/>
                </a:solidFill>
                <a:latin typeface="Arial"/>
              </a:rPr>
              <a:t>MT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11570" y="2800000"/>
            <a:ext cx="10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Arial"/>
              </a:rPr>
              <a:t>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11570" y="2800000"/>
            <a:ext cx="160883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F8FAFC"/>
                </a:solidFill>
                <a:latin typeface="Arial"/>
              </a:rPr>
              <a:t>Update docs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38010" y="2960000"/>
            <a:ext cx="1885950" cy="14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981570" y="2980000"/>
            <a:ext cx="100000" cy="10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81570" y="2980000"/>
            <a:ext cx="100000" cy="1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8FAFC"/>
                </a:solidFill>
                <a:latin typeface="Arial"/>
              </a:rPr>
              <a:t>LV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11570" y="2960000"/>
            <a:ext cx="10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34D399"/>
                </a:solidFill>
                <a:latin typeface="Arial"/>
              </a:rPr>
              <a:t>☑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11570" y="2960000"/>
            <a:ext cx="160883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Arial"/>
              </a:rPr>
              <a:t>Fix bug #11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46570" y="4055720"/>
            <a:ext cx="2068830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A78BFA"/>
                </a:solidFill>
                <a:latin typeface="Arial"/>
              </a:rPr>
              <a:t>Team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46570" y="4205720"/>
            <a:ext cx="206883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Arial"/>
              </a:rPr>
              <a:t>Shared tasks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7200" y="4620000"/>
            <a:ext cx="8229600" cy="2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Arial"/>
              </a:rPr>
              <a:t>AI musí hádat, co chceš. Hádá pokaždé jinak.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F8FAFC"/>
                </a:solidFill>
                <a:latin typeface="Arial Black"/>
              </a:rPr>
              <a:t>DLOUHÝ PROMPT = ZMATENÝ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Arial"/>
              </a:rPr>
              <a:t>Když chceš všechno najednou, nedostaneš nic pořádně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Arial"/>
              </a:rPr>
              <a:t>6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4000500" cy="3200000"/>
          </a:xfrm>
          <a:prstGeom prst="rect">
            <a:avLst/>
          </a:prstGeom>
          <a:solidFill>
            <a:srgbClr val="0F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4000500" cy="4572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372618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B923C"/>
                </a:solidFill>
                <a:latin typeface="Arial"/>
              </a:rPr>
              <a:t>PROMPT  →  500+ slov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634740" cy="274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rial"/>
              </a:rPr>
              <a:t>„Udělej mi TODO app. Chci auth s Google a GitHub, real-time sync přes WebSockets, offline mode, AI-powered sumarizace úkolů, kanban board, dark mode, tagy, prioritu 1-5, deadline notifikace, mobile push, desktop klient v Electronu, export do PDF/CSV/iCal, zero-downtime migrace, Redis cache, Elasticsearch pro search, i18n do 12 jazyků, GDPR compliance, Stripe subscription s 3 tiery, A/B testing, analytics přes Mixpanel, keyboard shortcuts, drag &amp; drop reordering, undo/redo historie, sharing přes veřejné linky, OAuth SSO pro tým, webhook integrace, CLI nástroj, browser extension, Slack &amp; Teams notifikace, AI chat asistent…"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700" y="2831600"/>
            <a:ext cx="2286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94A3B8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6300" y="1371600"/>
            <a:ext cx="4000500" cy="3200000"/>
          </a:xfrm>
          <a:prstGeom prst="rect">
            <a:avLst/>
          </a:prstGeom>
          <a:solidFill>
            <a:srgbClr val="0F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86300" y="1371600"/>
            <a:ext cx="4000500" cy="457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9180" y="1463040"/>
            <a:ext cx="372618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87171"/>
                </a:solidFill>
                <a:latin typeface="Arial"/>
              </a:rPr>
              <a:t>CO AI UDĚLALA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3460" y="1783080"/>
            <a:ext cx="24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00" y="1813080"/>
            <a:ext cx="3450500" cy="1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Arial"/>
              </a:rPr>
              <a:t>Auth (Google jen)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6300" y="1933080"/>
            <a:ext cx="345050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94A3B8"/>
                </a:solidFill>
                <a:latin typeface="Arial"/>
              </a:rPr>
              <a:t>ale zapomněla na 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3460" y="2063080"/>
            <a:ext cx="24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87171"/>
                </a:solidFill>
                <a:latin typeface="Arial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6300" y="2093080"/>
            <a:ext cx="3450500" cy="1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Arial"/>
              </a:rPr>
              <a:t>Real-time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6300" y="2213080"/>
            <a:ext cx="345050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94A3B8"/>
                </a:solidFill>
                <a:latin typeface="Arial"/>
              </a:rPr>
              <a:t>chybí úplně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60" y="2343080"/>
            <a:ext cx="24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BBF24"/>
                </a:solidFill>
                <a:latin typeface="Arial"/>
              </a:rPr>
              <a:t>~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6300" y="2373080"/>
            <a:ext cx="3450500" cy="1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Arial"/>
              </a:rPr>
              <a:t>Kanban 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6300" y="2493080"/>
            <a:ext cx="345050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94A3B8"/>
                </a:solidFill>
                <a:latin typeface="Arial"/>
              </a:rPr>
              <a:t>polovičatý, bez drag&amp;drop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3460" y="2623080"/>
            <a:ext cx="24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87171"/>
                </a:solidFill>
                <a:latin typeface="Arial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6300" y="2653080"/>
            <a:ext cx="3450500" cy="1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Arial"/>
              </a:rPr>
              <a:t>Offline mode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6300" y="2773080"/>
            <a:ext cx="345050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94A3B8"/>
                </a:solidFill>
                <a:latin typeface="Arial"/>
              </a:rPr>
              <a:t>ignoroval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3460" y="2903080"/>
            <a:ext cx="24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BBF24"/>
                </a:solidFill>
                <a:latin typeface="Arial"/>
              </a:rPr>
              <a:t>~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6300" y="2933080"/>
            <a:ext cx="3450500" cy="1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Arial"/>
              </a:rPr>
              <a:t>AI sumarizace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6300" y="3053080"/>
            <a:ext cx="345050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94A3B8"/>
                </a:solidFill>
                <a:latin typeface="Arial"/>
              </a:rPr>
              <a:t>neexistuje, jen placeholder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3460" y="3183080"/>
            <a:ext cx="24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87171"/>
                </a:solidFill>
                <a:latin typeface="Arial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6300" y="3213080"/>
            <a:ext cx="3450500" cy="1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Arial"/>
              </a:rPr>
              <a:t>i18n, Stripe, Webhooks…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6300" y="3333080"/>
            <a:ext cx="345050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94A3B8"/>
                </a:solidFill>
                <a:latin typeface="Arial"/>
              </a:rPr>
              <a:t>ani jedno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23460" y="3463080"/>
            <a:ext cx="24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00" y="3493080"/>
            <a:ext cx="3450500" cy="1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Arial"/>
              </a:rPr>
              <a:t>Dark 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86300" y="3613080"/>
            <a:ext cx="345050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94A3B8"/>
                </a:solidFill>
                <a:latin typeface="Arial"/>
              </a:rPr>
              <a:t>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23460" y="3743080"/>
            <a:ext cx="24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B923C"/>
                </a:solidFill>
                <a:latin typeface="Arial"/>
              </a:rPr>
              <a:t>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86300" y="3773080"/>
            <a:ext cx="3450500" cy="1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Arial"/>
              </a:rPr>
              <a:t>500 řádků kódu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86300" y="3893080"/>
            <a:ext cx="3450500" cy="1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94A3B8"/>
                </a:solidFill>
                <a:latin typeface="Arial"/>
              </a:rPr>
              <a:t>nikdo neví co kde 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620000"/>
            <a:ext cx="8229600" cy="2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Arial"/>
              </a:rPr>
              <a:t>Víc slov ≠ víc porozumění. AI vybere, co si zapamatovala naposled.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F8FAFC"/>
                </a:solidFill>
                <a:latin typeface="Arial Black"/>
              </a:rPr>
              <a:t>PRD = PŘESNĚ CO POTŘEBUJEŠ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Arial"/>
              </a:rPr>
              <a:t>Struktura rodí určitost — AI dostane rozhodnutí, ne hádanku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Arial"/>
              </a:rPr>
              <a:t>7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4000500" cy="3200000"/>
          </a:xfrm>
          <a:prstGeom prst="rect">
            <a:avLst/>
          </a:prstGeom>
          <a:solidFill>
            <a:srgbClr val="0F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400050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372618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onsolas"/>
              </a:rPr>
              <a:t>PRD.md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3634740" cy="6514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30000" cy="65141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13080"/>
            <a:ext cx="3360420" cy="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onsolas"/>
              </a:rPr>
              <a:t># Problém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73080"/>
            <a:ext cx="3360420" cy="431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8FAFC"/>
                </a:solidFill>
                <a:latin typeface="Arial"/>
              </a:rPr>
              <a:t>Tým 8 lidí si přehazuje úkoly v Slacku.
Nikdo neví, co je hotové.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80210"/>
            <a:ext cx="3634740" cy="6514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80210"/>
            <a:ext cx="30000" cy="65141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510210"/>
            <a:ext cx="3360420" cy="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onsolas"/>
              </a:rPr>
              <a:t># Uživatel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70210"/>
            <a:ext cx="3360420" cy="431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8FAFC"/>
                </a:solidFill>
                <a:latin typeface="Arial"/>
              </a:rPr>
              <a:t>Projekt manažer v malém studiu.
Otevře appku 5× denně.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77340"/>
            <a:ext cx="3634740" cy="6514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77340"/>
            <a:ext cx="30000" cy="65141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07340"/>
            <a:ext cx="3360420" cy="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onsolas"/>
              </a:rPr>
              <a:t># Top 3 akce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367340"/>
            <a:ext cx="3360420" cy="431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8FAFC"/>
                </a:solidFill>
                <a:latin typeface="Arial"/>
              </a:rPr>
              <a:t>1. Přidat úkol  2. Označit hotovo
3. Přiřadit kolegu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74470"/>
            <a:ext cx="3634740" cy="6514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874470"/>
            <a:ext cx="30000" cy="65141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904470"/>
            <a:ext cx="3360420" cy="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onsolas"/>
              </a:rPr>
              <a:t># Data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4470"/>
            <a:ext cx="3360420" cy="431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8FAFC"/>
                </a:solidFill>
                <a:latin typeface="Arial"/>
              </a:rPr>
              <a:t>tasks (id, title, status, owner_id)
users (id, name, avatar)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7700" y="2831600"/>
            <a:ext cx="2286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6300" y="1371600"/>
            <a:ext cx="4000500" cy="3200000"/>
          </a:xfrm>
          <a:prstGeom prst="rect">
            <a:avLst/>
          </a:prstGeom>
          <a:solidFill>
            <a:srgbClr val="0F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86300" y="1371600"/>
            <a:ext cx="400050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9180" y="1463040"/>
            <a:ext cx="372618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Arial"/>
              </a:rPr>
              <a:t>VÝSLEDNÁ APPKA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9180" y="1783080"/>
            <a:ext cx="363474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Arial"/>
              </a:rPr>
              <a:t>Studio Tasks — 8 lidí, 12 úkolů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69180" y="2043080"/>
            <a:ext cx="3034740" cy="200000"/>
          </a:xfrm>
          <a:prstGeom prst="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29180" y="2043080"/>
            <a:ext cx="2934740" cy="2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Arial"/>
              </a:rPr>
              <a:t>+ Přidej úkol…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43920" y="2043080"/>
            <a:ext cx="560000" cy="200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43920" y="2043080"/>
            <a:ext cx="560000" cy="2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F172A"/>
                </a:solidFill>
                <a:latin typeface="Arial"/>
              </a:rPr>
              <a:t>Přidat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69180" y="2303080"/>
            <a:ext cx="3634740" cy="26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14900" y="2303080"/>
            <a:ext cx="22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Arial"/>
              </a:rP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59180" y="2303080"/>
            <a:ext cx="299474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F8FAFC"/>
                </a:solidFill>
                <a:latin typeface="Arial"/>
              </a:rPr>
              <a:t>Deploy v2 na staging</a:t>
            </a:r>
          </a:p>
        </p:txBody>
      </p:sp>
      <p:sp>
        <p:nvSpPr>
          <p:cNvPr id="37" name="Oval 36"/>
          <p:cNvSpPr/>
          <p:nvPr/>
        </p:nvSpPr>
        <p:spPr>
          <a:xfrm>
            <a:off x="8243920" y="2343080"/>
            <a:ext cx="180000" cy="18000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43920" y="2343080"/>
            <a:ext cx="18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8FAFC"/>
                </a:solidFill>
                <a:latin typeface="Arial"/>
              </a:rPr>
              <a:t>AK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69180" y="2593080"/>
            <a:ext cx="3634740" cy="26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14900" y="2593080"/>
            <a:ext cx="22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Arial"/>
              </a:rPr>
              <a:t>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59180" y="2593080"/>
            <a:ext cx="299474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F8FAFC"/>
                </a:solidFill>
                <a:latin typeface="Arial"/>
              </a:rPr>
              <a:t>Review PR #42</a:t>
            </a:r>
          </a:p>
        </p:txBody>
      </p:sp>
      <p:sp>
        <p:nvSpPr>
          <p:cNvPr id="42" name="Oval 41"/>
          <p:cNvSpPr/>
          <p:nvPr/>
        </p:nvSpPr>
        <p:spPr>
          <a:xfrm>
            <a:off x="8243920" y="2633080"/>
            <a:ext cx="180000" cy="1800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3920" y="2633080"/>
            <a:ext cx="18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8FAFC"/>
                </a:solidFill>
                <a:latin typeface="Arial"/>
              </a:rPr>
              <a:t>JS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69180" y="2883080"/>
            <a:ext cx="3634740" cy="26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14900" y="2883080"/>
            <a:ext cx="22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34D399"/>
                </a:solidFill>
                <a:latin typeface="Arial"/>
              </a:rPr>
              <a:t>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59180" y="2883080"/>
            <a:ext cx="299474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rial"/>
              </a:rPr>
              <a:t>Připravit prezentaci</a:t>
            </a:r>
          </a:p>
        </p:txBody>
      </p:sp>
      <p:sp>
        <p:nvSpPr>
          <p:cNvPr id="47" name="Oval 46"/>
          <p:cNvSpPr/>
          <p:nvPr/>
        </p:nvSpPr>
        <p:spPr>
          <a:xfrm>
            <a:off x="8243920" y="2923080"/>
            <a:ext cx="180000" cy="1800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43920" y="2923080"/>
            <a:ext cx="18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8FAFC"/>
                </a:solidFill>
                <a:latin typeface="Arial"/>
              </a:rPr>
              <a:t>MT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69180" y="3173080"/>
            <a:ext cx="3634740" cy="26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14900" y="3173080"/>
            <a:ext cx="22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Arial"/>
              </a:rPr>
              <a:t>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59180" y="3173080"/>
            <a:ext cx="299474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F8FAFC"/>
                </a:solidFill>
                <a:latin typeface="Arial"/>
              </a:rPr>
              <a:t>Napsat release notes</a:t>
            </a:r>
          </a:p>
        </p:txBody>
      </p:sp>
      <p:sp>
        <p:nvSpPr>
          <p:cNvPr id="52" name="Oval 51"/>
          <p:cNvSpPr/>
          <p:nvPr/>
        </p:nvSpPr>
        <p:spPr>
          <a:xfrm>
            <a:off x="8243920" y="3213080"/>
            <a:ext cx="180000" cy="18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3920" y="3213080"/>
            <a:ext cx="18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8FAFC"/>
                </a:solidFill>
                <a:latin typeface="Arial"/>
              </a:rPr>
              <a:t>LV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620000"/>
            <a:ext cx="8229600" cy="2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1">
                <a:solidFill>
                  <a:srgbClr val="34D399"/>
                </a:solidFill>
                <a:latin typeface="Arial"/>
              </a:rPr>
              <a:t>AI dostane rozhodnutí. Nemusí hádat. Trefí se napoprvé.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 Coding Workshop — Hack Your Way 2026</dc:title>
  <dc:subject>PptxGenJS Presentation</dc:subject>
  <dc:creator>Jiri Semmler</dc:creator>
  <cp:lastModifiedBy>Jiri Semmler</cp:lastModifiedBy>
  <cp:revision>1</cp:revision>
  <dcterms:created xsi:type="dcterms:W3CDTF">2026-04-12T12:44:31Z</dcterms:created>
  <dcterms:modified xsi:type="dcterms:W3CDTF">2026-04-12T12:44:31Z</dcterms:modified>
</cp:coreProperties>
</file>