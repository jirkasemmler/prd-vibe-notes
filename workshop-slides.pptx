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64008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spc="600" kern="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VIBE CODING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 nápadu k deploynuté appce za 3 hodiny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 Your Way 2026  |  Brno  |  28. dubna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1005840" y="3840480"/>
            <a:ext cx="1280160" cy="347472"/>
          </a:xfrm>
          <a:prstGeom prst="rect">
            <a:avLst/>
          </a:prstGeom>
          <a:solidFill>
            <a:srgbClr val="1E293B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384048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468880" y="3840480"/>
            <a:ext cx="1280160" cy="347472"/>
          </a:xfrm>
          <a:prstGeom prst="rect">
            <a:avLst/>
          </a:prstGeom>
          <a:solidFill>
            <a:srgbClr val="1E293B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468880" y="384048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931920" y="3840480"/>
            <a:ext cx="1280160" cy="347472"/>
          </a:xfrm>
          <a:prstGeom prst="rect">
            <a:avLst/>
          </a:prstGeom>
          <a:solidFill>
            <a:srgbClr val="1E293B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931920" y="384048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394960" y="3840480"/>
            <a:ext cx="1280160" cy="347472"/>
          </a:xfrm>
          <a:prstGeom prst="rect">
            <a:avLst/>
          </a:prstGeom>
          <a:solidFill>
            <a:srgbClr val="1E293B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394960" y="384048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858000" y="3840480"/>
            <a:ext cx="1280160" cy="347472"/>
          </a:xfrm>
          <a:prstGeom prst="rect">
            <a:avLst/>
          </a:prstGeom>
          <a:solidFill>
            <a:srgbClr val="1E293B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58000" y="384048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8" name="Text 15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PRŮBĚH WORKSHOPU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hodiny od nápadu k živé URL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88720" cy="21945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45920"/>
            <a:ext cx="1188720" cy="45720"/>
          </a:xfrm>
          <a:prstGeom prst="rect">
            <a:avLst/>
          </a:prstGeom>
          <a:solidFill>
            <a:srgbClr val="38BDF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192024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46888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30175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982980" y="3429000"/>
            <a:ext cx="320040" cy="320040"/>
          </a:xfrm>
          <a:prstGeom prst="oval">
            <a:avLst/>
          </a:prstGeom>
          <a:solidFill>
            <a:srgbClr val="38BDF8"/>
          </a:solidFill>
          <a:ln/>
        </p:spPr>
      </p:sp>
      <p:sp>
        <p:nvSpPr>
          <p:cNvPr id="10" name="Text 7"/>
          <p:cNvSpPr/>
          <p:nvPr/>
        </p:nvSpPr>
        <p:spPr>
          <a:xfrm>
            <a:off x="982980" y="34290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1920240" y="1645920"/>
            <a:ext cx="1188720" cy="21945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1920240" y="1645920"/>
            <a:ext cx="1188720" cy="45720"/>
          </a:xfrm>
          <a:prstGeom prst="rect">
            <a:avLst/>
          </a:prstGeom>
          <a:solidFill>
            <a:srgbClr val="34D399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8860" y="192024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920240" y="246888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PRD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1920240" y="30175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min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2354580" y="3429000"/>
            <a:ext cx="320040" cy="320040"/>
          </a:xfrm>
          <a:prstGeom prst="oval">
            <a:avLst/>
          </a:prstGeom>
          <a:solidFill>
            <a:srgbClr val="34D399"/>
          </a:solidFill>
          <a:ln/>
        </p:spPr>
      </p:sp>
      <p:sp>
        <p:nvSpPr>
          <p:cNvPr id="17" name="Text 13"/>
          <p:cNvSpPr/>
          <p:nvPr/>
        </p:nvSpPr>
        <p:spPr>
          <a:xfrm>
            <a:off x="2354580" y="34290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3291840" y="1645920"/>
            <a:ext cx="1188720" cy="21945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3291840" y="1645920"/>
            <a:ext cx="1188720" cy="45720"/>
          </a:xfrm>
          <a:prstGeom prst="rect">
            <a:avLst/>
          </a:prstGeom>
          <a:solidFill>
            <a:srgbClr val="FB923C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0460" y="1920240"/>
            <a:ext cx="411480" cy="4114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3291840" y="246888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Scaffold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3291840" y="30175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min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3726180" y="3429000"/>
            <a:ext cx="320040" cy="320040"/>
          </a:xfrm>
          <a:prstGeom prst="oval">
            <a:avLst/>
          </a:prstGeom>
          <a:solidFill>
            <a:srgbClr val="FB923C"/>
          </a:solidFill>
          <a:ln/>
        </p:spPr>
      </p:sp>
      <p:sp>
        <p:nvSpPr>
          <p:cNvPr id="24" name="Text 19"/>
          <p:cNvSpPr/>
          <p:nvPr/>
        </p:nvSpPr>
        <p:spPr>
          <a:xfrm>
            <a:off x="3726180" y="34290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4663440" y="1645920"/>
            <a:ext cx="1188720" cy="21945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4663440" y="1645920"/>
            <a:ext cx="1188720" cy="45720"/>
          </a:xfrm>
          <a:prstGeom prst="rect">
            <a:avLst/>
          </a:prstGeom>
          <a:solidFill>
            <a:srgbClr val="F472B6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2060" y="1920240"/>
            <a:ext cx="411480" cy="41148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4663440" y="246888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v1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4663440" y="30175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min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5097780" y="3429000"/>
            <a:ext cx="320040" cy="320040"/>
          </a:xfrm>
          <a:prstGeom prst="oval">
            <a:avLst/>
          </a:prstGeom>
          <a:solidFill>
            <a:srgbClr val="F472B6"/>
          </a:solidFill>
          <a:ln/>
        </p:spPr>
      </p:sp>
      <p:sp>
        <p:nvSpPr>
          <p:cNvPr id="31" name="Text 25"/>
          <p:cNvSpPr/>
          <p:nvPr/>
        </p:nvSpPr>
        <p:spPr>
          <a:xfrm>
            <a:off x="5097780" y="34290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6035040" y="1645920"/>
            <a:ext cx="1188720" cy="21945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6035040" y="1645920"/>
            <a:ext cx="1188720" cy="45720"/>
          </a:xfrm>
          <a:prstGeom prst="rect">
            <a:avLst/>
          </a:prstGeom>
          <a:solidFill>
            <a:srgbClr val="A78BFA"/>
          </a:solidFill>
          <a:ln/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3660" y="1920240"/>
            <a:ext cx="411480" cy="41148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6035040" y="246888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&amp; Iterate</a:t>
            </a:r>
            <a:endParaRPr lang="en-US" sz="1200" dirty="0"/>
          </a:p>
        </p:txBody>
      </p:sp>
      <p:sp>
        <p:nvSpPr>
          <p:cNvPr id="36" name="Text 29"/>
          <p:cNvSpPr/>
          <p:nvPr/>
        </p:nvSpPr>
        <p:spPr>
          <a:xfrm>
            <a:off x="6035040" y="30175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min</a:t>
            </a:r>
            <a:endParaRPr lang="en-US" sz="1000" dirty="0"/>
          </a:p>
        </p:txBody>
      </p:sp>
      <p:sp>
        <p:nvSpPr>
          <p:cNvPr id="37" name="Shape 30"/>
          <p:cNvSpPr/>
          <p:nvPr/>
        </p:nvSpPr>
        <p:spPr>
          <a:xfrm>
            <a:off x="6469380" y="3429000"/>
            <a:ext cx="320040" cy="320040"/>
          </a:xfrm>
          <a:prstGeom prst="oval">
            <a:avLst/>
          </a:prstGeom>
          <a:solidFill>
            <a:srgbClr val="A78BFA"/>
          </a:solidFill>
          <a:ln/>
        </p:spPr>
      </p:sp>
      <p:sp>
        <p:nvSpPr>
          <p:cNvPr id="38" name="Text 31"/>
          <p:cNvSpPr/>
          <p:nvPr/>
        </p:nvSpPr>
        <p:spPr>
          <a:xfrm>
            <a:off x="6469380" y="34290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39" name="Shape 32"/>
          <p:cNvSpPr/>
          <p:nvPr/>
        </p:nvSpPr>
        <p:spPr>
          <a:xfrm>
            <a:off x="7406640" y="1645920"/>
            <a:ext cx="1188720" cy="21945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7406640" y="1645920"/>
            <a:ext cx="1188720" cy="45720"/>
          </a:xfrm>
          <a:prstGeom prst="rect">
            <a:avLst/>
          </a:prstGeom>
          <a:solidFill>
            <a:srgbClr val="38BDF8"/>
          </a:solidFill>
          <a:ln/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95260" y="1920240"/>
            <a:ext cx="411480" cy="411480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7406640" y="246888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&amp; Tell</a:t>
            </a:r>
            <a:endParaRPr lang="en-US" sz="1200" dirty="0"/>
          </a:p>
        </p:txBody>
      </p:sp>
      <p:sp>
        <p:nvSpPr>
          <p:cNvPr id="43" name="Text 35"/>
          <p:cNvSpPr/>
          <p:nvPr/>
        </p:nvSpPr>
        <p:spPr>
          <a:xfrm>
            <a:off x="7406640" y="30175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min</a:t>
            </a:r>
            <a:endParaRPr lang="en-US" sz="1000" dirty="0"/>
          </a:p>
        </p:txBody>
      </p:sp>
      <p:sp>
        <p:nvSpPr>
          <p:cNvPr id="44" name="Shape 36"/>
          <p:cNvSpPr/>
          <p:nvPr/>
        </p:nvSpPr>
        <p:spPr>
          <a:xfrm>
            <a:off x="7840980" y="3429000"/>
            <a:ext cx="320040" cy="320040"/>
          </a:xfrm>
          <a:prstGeom prst="oval">
            <a:avLst/>
          </a:prstGeom>
          <a:solidFill>
            <a:srgbClr val="38BDF8"/>
          </a:solidFill>
          <a:ln/>
        </p:spPr>
      </p:sp>
      <p:sp>
        <p:nvSpPr>
          <p:cNvPr id="45" name="Text 37"/>
          <p:cNvSpPr/>
          <p:nvPr/>
        </p:nvSpPr>
        <p:spPr>
          <a:xfrm>
            <a:off x="7840980" y="34290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46" name="Text 38"/>
          <p:cNvSpPr/>
          <p:nvPr/>
        </p:nvSpPr>
        <p:spPr>
          <a:xfrm>
            <a:off x="1755648" y="2377440"/>
            <a:ext cx="146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800" dirty="0"/>
          </a:p>
        </p:txBody>
      </p:sp>
      <p:sp>
        <p:nvSpPr>
          <p:cNvPr id="47" name="Text 39"/>
          <p:cNvSpPr/>
          <p:nvPr/>
        </p:nvSpPr>
        <p:spPr>
          <a:xfrm>
            <a:off x="3127248" y="2377440"/>
            <a:ext cx="146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800" dirty="0"/>
          </a:p>
        </p:txBody>
      </p:sp>
      <p:sp>
        <p:nvSpPr>
          <p:cNvPr id="48" name="Text 40"/>
          <p:cNvSpPr/>
          <p:nvPr/>
        </p:nvSpPr>
        <p:spPr>
          <a:xfrm>
            <a:off x="4498848" y="2377440"/>
            <a:ext cx="146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800" dirty="0"/>
          </a:p>
        </p:txBody>
      </p:sp>
      <p:sp>
        <p:nvSpPr>
          <p:cNvPr id="49" name="Text 41"/>
          <p:cNvSpPr/>
          <p:nvPr/>
        </p:nvSpPr>
        <p:spPr>
          <a:xfrm>
            <a:off x="5870448" y="2377440"/>
            <a:ext cx="146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800" dirty="0"/>
          </a:p>
        </p:txBody>
      </p:sp>
      <p:sp>
        <p:nvSpPr>
          <p:cNvPr id="50" name="Text 42"/>
          <p:cNvSpPr/>
          <p:nvPr/>
        </p:nvSpPr>
        <p:spPr>
          <a:xfrm>
            <a:off x="7242048" y="2377440"/>
            <a:ext cx="146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800" dirty="0"/>
          </a:p>
        </p:txBody>
      </p:sp>
      <p:sp>
        <p:nvSpPr>
          <p:cNvPr id="51" name="Shape 43"/>
          <p:cNvSpPr/>
          <p:nvPr/>
        </p:nvSpPr>
        <p:spPr>
          <a:xfrm>
            <a:off x="457200" y="4206240"/>
            <a:ext cx="8229600" cy="36576"/>
          </a:xfrm>
          <a:prstGeom prst="rect">
            <a:avLst/>
          </a:prstGeom>
          <a:solidFill>
            <a:srgbClr val="94A3B8">
              <a:alpha val="30000"/>
            </a:srgbClr>
          </a:solidFill>
          <a:ln/>
        </p:spPr>
      </p:sp>
      <p:sp>
        <p:nvSpPr>
          <p:cNvPr id="52" name="Shape 44"/>
          <p:cNvSpPr/>
          <p:nvPr/>
        </p:nvSpPr>
        <p:spPr>
          <a:xfrm>
            <a:off x="420624" y="4187952"/>
            <a:ext cx="73152" cy="73152"/>
          </a:xfrm>
          <a:prstGeom prst="oval">
            <a:avLst/>
          </a:prstGeom>
          <a:solidFill>
            <a:srgbClr val="38BDF8"/>
          </a:solidFill>
          <a:ln/>
        </p:spPr>
      </p:sp>
      <p:sp>
        <p:nvSpPr>
          <p:cNvPr id="53" name="Text 45"/>
          <p:cNvSpPr/>
          <p:nvPr/>
        </p:nvSpPr>
        <p:spPr>
          <a:xfrm>
            <a:off x="182880" y="42976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0:00</a:t>
            </a:r>
            <a:endParaRPr lang="en-US" sz="800" dirty="0"/>
          </a:p>
        </p:txBody>
      </p:sp>
      <p:sp>
        <p:nvSpPr>
          <p:cNvPr id="54" name="Shape 46"/>
          <p:cNvSpPr/>
          <p:nvPr/>
        </p:nvSpPr>
        <p:spPr>
          <a:xfrm>
            <a:off x="877824" y="4187952"/>
            <a:ext cx="73152" cy="73152"/>
          </a:xfrm>
          <a:prstGeom prst="oval">
            <a:avLst/>
          </a:prstGeom>
          <a:solidFill>
            <a:srgbClr val="38BDF8"/>
          </a:solidFill>
          <a:ln/>
        </p:spPr>
      </p:sp>
      <p:sp>
        <p:nvSpPr>
          <p:cNvPr id="55" name="Text 47"/>
          <p:cNvSpPr/>
          <p:nvPr/>
        </p:nvSpPr>
        <p:spPr>
          <a:xfrm>
            <a:off x="640080" y="42976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0:10</a:t>
            </a:r>
            <a:endParaRPr lang="en-US" sz="800" dirty="0"/>
          </a:p>
        </p:txBody>
      </p:sp>
      <p:sp>
        <p:nvSpPr>
          <p:cNvPr id="56" name="Shape 48"/>
          <p:cNvSpPr/>
          <p:nvPr/>
        </p:nvSpPr>
        <p:spPr>
          <a:xfrm>
            <a:off x="1792224" y="4187952"/>
            <a:ext cx="73152" cy="73152"/>
          </a:xfrm>
          <a:prstGeom prst="oval">
            <a:avLst/>
          </a:prstGeom>
          <a:solidFill>
            <a:srgbClr val="38BDF8"/>
          </a:solidFill>
          <a:ln/>
        </p:spPr>
      </p:sp>
      <p:sp>
        <p:nvSpPr>
          <p:cNvPr id="57" name="Text 49"/>
          <p:cNvSpPr/>
          <p:nvPr/>
        </p:nvSpPr>
        <p:spPr>
          <a:xfrm>
            <a:off x="1554480" y="42976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0:30</a:t>
            </a:r>
            <a:endParaRPr lang="en-US" sz="800" dirty="0"/>
          </a:p>
        </p:txBody>
      </p:sp>
      <p:sp>
        <p:nvSpPr>
          <p:cNvPr id="58" name="Shape 50"/>
          <p:cNvSpPr/>
          <p:nvPr/>
        </p:nvSpPr>
        <p:spPr>
          <a:xfrm>
            <a:off x="2935224" y="4187952"/>
            <a:ext cx="73152" cy="73152"/>
          </a:xfrm>
          <a:prstGeom prst="oval">
            <a:avLst/>
          </a:prstGeom>
          <a:solidFill>
            <a:srgbClr val="38BDF8"/>
          </a:solidFill>
          <a:ln/>
        </p:spPr>
      </p:sp>
      <p:sp>
        <p:nvSpPr>
          <p:cNvPr id="59" name="Text 51"/>
          <p:cNvSpPr/>
          <p:nvPr/>
        </p:nvSpPr>
        <p:spPr>
          <a:xfrm>
            <a:off x="2697480" y="42976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0:55</a:t>
            </a:r>
            <a:endParaRPr lang="en-US" sz="800" dirty="0"/>
          </a:p>
        </p:txBody>
      </p:sp>
      <p:sp>
        <p:nvSpPr>
          <p:cNvPr id="60" name="Shape 52"/>
          <p:cNvSpPr/>
          <p:nvPr/>
        </p:nvSpPr>
        <p:spPr>
          <a:xfrm>
            <a:off x="4306824" y="4187952"/>
            <a:ext cx="73152" cy="73152"/>
          </a:xfrm>
          <a:prstGeom prst="oval">
            <a:avLst/>
          </a:prstGeom>
          <a:solidFill>
            <a:srgbClr val="38BDF8"/>
          </a:solidFill>
          <a:ln/>
        </p:spPr>
      </p:sp>
      <p:sp>
        <p:nvSpPr>
          <p:cNvPr id="61" name="Text 53"/>
          <p:cNvSpPr/>
          <p:nvPr/>
        </p:nvSpPr>
        <p:spPr>
          <a:xfrm>
            <a:off x="4069080" y="42976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1:25</a:t>
            </a:r>
            <a:endParaRPr lang="en-US" sz="800" dirty="0"/>
          </a:p>
        </p:txBody>
      </p:sp>
      <p:sp>
        <p:nvSpPr>
          <p:cNvPr id="62" name="Shape 54"/>
          <p:cNvSpPr/>
          <p:nvPr/>
        </p:nvSpPr>
        <p:spPr>
          <a:xfrm>
            <a:off x="7050024" y="4187952"/>
            <a:ext cx="73152" cy="73152"/>
          </a:xfrm>
          <a:prstGeom prst="oval">
            <a:avLst/>
          </a:prstGeom>
          <a:solidFill>
            <a:srgbClr val="38BDF8"/>
          </a:solidFill>
          <a:ln/>
        </p:spPr>
      </p:sp>
      <p:sp>
        <p:nvSpPr>
          <p:cNvPr id="63" name="Text 55"/>
          <p:cNvSpPr/>
          <p:nvPr/>
        </p:nvSpPr>
        <p:spPr>
          <a:xfrm>
            <a:off x="6812280" y="42976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2:25</a:t>
            </a:r>
            <a:endParaRPr lang="en-US" sz="800" dirty="0"/>
          </a:p>
        </p:txBody>
      </p:sp>
      <p:sp>
        <p:nvSpPr>
          <p:cNvPr id="64" name="Shape 56"/>
          <p:cNvSpPr/>
          <p:nvPr/>
        </p:nvSpPr>
        <p:spPr>
          <a:xfrm>
            <a:off x="8650224" y="4187952"/>
            <a:ext cx="73152" cy="73152"/>
          </a:xfrm>
          <a:prstGeom prst="oval">
            <a:avLst/>
          </a:prstGeom>
          <a:solidFill>
            <a:srgbClr val="38BDF8"/>
          </a:solidFill>
          <a:ln/>
        </p:spPr>
      </p:sp>
      <p:sp>
        <p:nvSpPr>
          <p:cNvPr id="65" name="Text 57"/>
          <p:cNvSpPr/>
          <p:nvPr/>
        </p:nvSpPr>
        <p:spPr>
          <a:xfrm>
            <a:off x="8412480" y="42976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3:00</a:t>
            </a:r>
            <a:endParaRPr lang="en-US" sz="800" dirty="0"/>
          </a:p>
        </p:txBody>
      </p:sp>
      <p:sp>
        <p:nvSpPr>
          <p:cNvPr id="66" name="Shape 5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67" name="Text 59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 JE VIBE CODING?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54864" cy="109728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18872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"You just see stuff, say stuff, run stuff, and copy-paste stuff,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it mostly works."</a:t>
            </a:r>
            <a:endParaRPr lang="en-US" sz="16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
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Andrej Karpathy, 2025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560320"/>
            <a:ext cx="3840480" cy="20116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26974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Klasický vývoj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10896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Napiš kód ručně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Debuguj přes Stack Overflow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Řeš framework specifika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Hodiny → dny → týdny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46320" y="2560320"/>
            <a:ext cx="3840480" cy="20116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2560320"/>
            <a:ext cx="3840480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26974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212080" y="310896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Popiš co chceš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vygeneruje kód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Iteruj přes prompty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Minuty → hodiny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60520" y="3291840"/>
            <a:ext cx="457200" cy="457200"/>
          </a:xfrm>
          <a:prstGeom prst="oval">
            <a:avLst/>
          </a:prstGeom>
          <a:solidFill>
            <a:srgbClr val="38BDF8"/>
          </a:solidFill>
          <a:ln/>
        </p:spPr>
      </p:sp>
      <p:sp>
        <p:nvSpPr>
          <p:cNvPr id="14" name="Text 12"/>
          <p:cNvSpPr/>
          <p:nvPr/>
        </p:nvSpPr>
        <p:spPr>
          <a:xfrm>
            <a:off x="416052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PROČ ZAČÍT PRODUKTEM, NE KÓDEM?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 bez zadání = náhodné bloudění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371600"/>
            <a:ext cx="54864" cy="64008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37160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potřebuje jasné zadání — stejně jako lidský vývojář. PRD je ten zadávací dokument.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377440"/>
            <a:ext cx="1371600" cy="914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85800" y="2377440"/>
            <a:ext cx="1371600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5146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Problém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2880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 řešíme?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098548" y="2606040"/>
            <a:ext cx="146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286000" y="2377440"/>
            <a:ext cx="1371600" cy="914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286000" y="2377440"/>
            <a:ext cx="1371600" cy="4572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4" name="Text 12"/>
          <p:cNvSpPr/>
          <p:nvPr/>
        </p:nvSpPr>
        <p:spPr>
          <a:xfrm>
            <a:off x="2286000" y="25146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286000" y="2880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Jak to vypadá?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98748" y="2606040"/>
            <a:ext cx="146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886200" y="2377440"/>
            <a:ext cx="1371600" cy="914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886200" y="2377440"/>
            <a:ext cx="1371600" cy="4572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19" name="Text 17"/>
          <p:cNvSpPr/>
          <p:nvPr/>
        </p:nvSpPr>
        <p:spPr>
          <a:xfrm>
            <a:off x="3886200" y="25146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886200" y="2880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 říct AI?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298948" y="2606040"/>
            <a:ext cx="146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486400" y="2377440"/>
            <a:ext cx="1371600" cy="914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0" y="2377440"/>
            <a:ext cx="1371600" cy="4572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0" y="25146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Kód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86400" y="2880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generuje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99148" y="2606040"/>
            <a:ext cx="146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086600" y="2377440"/>
            <a:ext cx="1371600" cy="914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086600" y="2377440"/>
            <a:ext cx="1371600" cy="4572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9" name="Text 27"/>
          <p:cNvSpPr/>
          <p:nvPr/>
        </p:nvSpPr>
        <p:spPr>
          <a:xfrm>
            <a:off x="7086600" y="25146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086600" y="2880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Živá URL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3657600"/>
            <a:ext cx="3840480" cy="914400"/>
          </a:xfrm>
          <a:prstGeom prst="rect">
            <a:avLst/>
          </a:prstGeom>
          <a:solidFill>
            <a:srgbClr val="2D1215"/>
          </a:solidFill>
          <a:ln/>
        </p:spPr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886200"/>
            <a:ext cx="365760" cy="365760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1097280" y="373075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Bez PRD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1097280" y="40690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"Udělej mi appku" → AI hádá, ty opravuješ, scope se rozlézá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846320" y="3657600"/>
            <a:ext cx="3840480" cy="914400"/>
          </a:xfrm>
          <a:prstGeom prst="rect">
            <a:avLst/>
          </a:prstGeom>
          <a:solidFill>
            <a:srgbClr val="0D2818"/>
          </a:solidFill>
          <a:ln/>
        </p:spPr>
      </p:sp>
      <p:pic>
        <p:nvPicPr>
          <p:cNvPr id="3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886200"/>
            <a:ext cx="365760" cy="365760"/>
          </a:xfrm>
          <a:prstGeom prst="rect">
            <a:avLst/>
          </a:prstGeom>
        </p:spPr>
      </p:pic>
      <p:sp>
        <p:nvSpPr>
          <p:cNvPr id="37" name="Text 33"/>
          <p:cNvSpPr/>
          <p:nvPr/>
        </p:nvSpPr>
        <p:spPr>
          <a:xfrm>
            <a:off x="5486400" y="373075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PRD</a:t>
            </a:r>
            <a:endParaRPr lang="en-US" sz="1300" dirty="0"/>
          </a:p>
        </p:txBody>
      </p:sp>
      <p:sp>
        <p:nvSpPr>
          <p:cNvPr id="38" name="Text 34"/>
          <p:cNvSpPr/>
          <p:nvPr/>
        </p:nvSpPr>
        <p:spPr>
          <a:xfrm>
            <a:off x="5486400" y="40690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Jasný scope, datový model, user stories → AI ví přesně co má dělat</a:t>
            </a:r>
            <a:endParaRPr lang="en-US" sz="1100" dirty="0"/>
          </a:p>
        </p:txBody>
      </p:sp>
      <p:sp>
        <p:nvSpPr>
          <p:cNvPr id="39" name="Shape 3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0" name="Text 36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ANATOMIE PRD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 by měl správný PRD obsahovat — a co pro workshop stačí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840480" cy="3200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5544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PRD by-the-book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32004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Problém a kontext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Cílový uživatel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Cíle a metriky úspěchu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stories / use cases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(in/out)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Funkční požadavky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Nefunkční požadavky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Datový model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Závislosti a rizika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Časový rámec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46320" y="1463040"/>
            <a:ext cx="3840480" cy="3200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46320" y="1463040"/>
            <a:ext cx="3840480" cy="4572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0" y="15544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Náš workshop PRD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120640" y="2103120"/>
            <a:ext cx="201168" cy="201168"/>
          </a:xfrm>
          <a:prstGeom prst="oval">
            <a:avLst/>
          </a:prstGeom>
          <a:solidFill>
            <a:srgbClr val="34D399"/>
          </a:solidFill>
          <a:ln/>
        </p:spPr>
      </p:sp>
      <p:sp>
        <p:nvSpPr>
          <p:cNvPr id="11" name="Text 9"/>
          <p:cNvSpPr/>
          <p:nvPr/>
        </p:nvSpPr>
        <p:spPr>
          <a:xfrm>
            <a:off x="5120640" y="210312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40680" y="203911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Problém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40680" y="2258568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 řešíme a proč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120640" y="2606040"/>
            <a:ext cx="201168" cy="201168"/>
          </a:xfrm>
          <a:prstGeom prst="oval">
            <a:avLst/>
          </a:prstGeom>
          <a:solidFill>
            <a:srgbClr val="34D399"/>
          </a:solidFill>
          <a:ln/>
        </p:spPr>
      </p:sp>
      <p:sp>
        <p:nvSpPr>
          <p:cNvPr id="15" name="Text 13"/>
          <p:cNvSpPr/>
          <p:nvPr/>
        </p:nvSpPr>
        <p:spPr>
          <a:xfrm>
            <a:off x="5120640" y="260604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440680" y="254203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Cílový uživatel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40680" y="2761488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koho to je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120640" y="3108960"/>
            <a:ext cx="201168" cy="201168"/>
          </a:xfrm>
          <a:prstGeom prst="oval">
            <a:avLst/>
          </a:prstGeom>
          <a:solidFill>
            <a:srgbClr val="34D399"/>
          </a:solidFill>
          <a:ln/>
        </p:spPr>
      </p:sp>
      <p:sp>
        <p:nvSpPr>
          <p:cNvPr id="19" name="Text 17"/>
          <p:cNvSpPr/>
          <p:nvPr/>
        </p:nvSpPr>
        <p:spPr>
          <a:xfrm>
            <a:off x="5120640" y="310896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40680" y="304495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stories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40680" y="3264408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3–5 hlavních akcí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120640" y="3611880"/>
            <a:ext cx="201168" cy="201168"/>
          </a:xfrm>
          <a:prstGeom prst="oval">
            <a:avLst/>
          </a:prstGeom>
          <a:solidFill>
            <a:srgbClr val="34D399"/>
          </a:solidFill>
          <a:ln/>
        </p:spPr>
      </p:sp>
      <p:sp>
        <p:nvSpPr>
          <p:cNvPr id="23" name="Text 21"/>
          <p:cNvSpPr/>
          <p:nvPr/>
        </p:nvSpPr>
        <p:spPr>
          <a:xfrm>
            <a:off x="5120640" y="361188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40680" y="354787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(in/out)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40680" y="3767328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 je MVP, co ne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120640" y="4114800"/>
            <a:ext cx="201168" cy="201168"/>
          </a:xfrm>
          <a:prstGeom prst="oval">
            <a:avLst/>
          </a:prstGeom>
          <a:solidFill>
            <a:srgbClr val="34D399"/>
          </a:solidFill>
          <a:ln/>
        </p:spPr>
      </p:sp>
      <p:sp>
        <p:nvSpPr>
          <p:cNvPr id="27" name="Text 25"/>
          <p:cNvSpPr/>
          <p:nvPr/>
        </p:nvSpPr>
        <p:spPr>
          <a:xfrm>
            <a:off x="5120640" y="411480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440680" y="405079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Datový model + SQL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40680" y="4270248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Tabulky pro Supabase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20624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31" name="Shape 2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2" name="Text 3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NÁŠ STACK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Všechno managed, free tier, jeden příkaz na deploy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7315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463040"/>
            <a:ext cx="54864" cy="7315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087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+ API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0" y="146304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framework s App Routerem, TypeScript, Tailwind CSS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331720"/>
            <a:ext cx="8229600" cy="7315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331720"/>
            <a:ext cx="54864" cy="73152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3774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26974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Databáze + Auth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0" y="233172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PostgreSQL, Row Level Security, email autentizace, SQL editor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200400"/>
            <a:ext cx="54864" cy="73152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2461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1520" y="3566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Hosting + CI/CD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743200" y="320040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push = auto deploy, preview URLs, environment variables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4069080"/>
            <a:ext cx="8229600" cy="7315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4069080"/>
            <a:ext cx="54864" cy="73152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1148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31520" y="44348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asistent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743200" y="406908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Terminálový nástroj, čte kód, generuje, debuguje, iteruje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5" name="Text 2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PRD AGENT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vás provede tvorbou PRD krok po kroku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5029200" cy="43891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463040"/>
            <a:ext cx="36576" cy="438912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463040"/>
            <a:ext cx="4754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Agent: Jaký problém chceš řešit? Popiš mi to jako bys to vysvětloval kamarádovi.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017520" y="1993392"/>
            <a:ext cx="5029200" cy="43891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Shape 6"/>
          <p:cNvSpPr/>
          <p:nvPr/>
        </p:nvSpPr>
        <p:spPr>
          <a:xfrm>
            <a:off x="3017520" y="1993392"/>
            <a:ext cx="36576" cy="43891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0" y="1993392"/>
            <a:ext cx="4754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Ty: Chci systém na rezervaci zasedaček v kanceláři.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2523744"/>
            <a:ext cx="5029200" cy="43891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" y="2523744"/>
            <a:ext cx="36576" cy="438912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523744"/>
            <a:ext cx="4754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Agent: Pro koho to je? Ty sám, tvůj tým, celá firma?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017520" y="3054096"/>
            <a:ext cx="5029200" cy="43891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Shape 12"/>
          <p:cNvSpPr/>
          <p:nvPr/>
        </p:nvSpPr>
        <p:spPr>
          <a:xfrm>
            <a:off x="3017520" y="3054096"/>
            <a:ext cx="36576" cy="43891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0" y="3054096"/>
            <a:ext cx="4754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Ty: Celý tým, asi 20 lidí.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584448"/>
            <a:ext cx="5029200" cy="43891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" y="3584448"/>
            <a:ext cx="36576" cy="438912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3584448"/>
            <a:ext cx="4754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Agent: Jaké 3 hlavní věci bys v appce chtěl dělat?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279392"/>
            <a:ext cx="274320" cy="27432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051560" y="420624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Výstup: hotové PRD s user stories, scope a SQL pro Supabase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3" name="Text 2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PROMPTOVACÍ TIPY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8229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54864" cy="82296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430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Buď konkrétní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651760" y="114300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"Přidej tlačítko pro smazání u každé položky v seznamu"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651760" y="150876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"Přidej mazání"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8229600" cy="8229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057400"/>
            <a:ext cx="54864" cy="82296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1031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Malé kroky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651760" y="210312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Jeden prompt = jedna feature nebo fix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51760" y="24688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"Udělej celou appku najednou"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8229600" cy="8229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017520"/>
            <a:ext cx="54864" cy="82296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0632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Dej kontext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651760" y="306324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"Mám tabulku todos se sloupci id, title, done. Přidej filtr."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651760" y="342900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"Přidej filtr"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977640"/>
            <a:ext cx="8229600" cy="8229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977640"/>
            <a:ext cx="54864" cy="82296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0233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Když AI bloudí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651760" y="402336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"Stop. Vrať se k jednoduššímu řešení."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651760" y="438912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Dalších 5 promptů na opravu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4" name="Text 2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DEPLOY FLOW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 lokálního kódu k živé URL ve 3 příkazech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8686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691640"/>
            <a:ext cx="411480" cy="411480"/>
          </a:xfrm>
          <a:prstGeom prst="oval">
            <a:avLst/>
          </a:prstGeom>
          <a:solidFill>
            <a:srgbClr val="38BDF8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916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5544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 &amp;&amp; git commit -m "v1"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71600" y="19659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Commitni změny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514600"/>
            <a:ext cx="8229600" cy="8686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85800" y="2743200"/>
            <a:ext cx="411480" cy="411480"/>
          </a:xfrm>
          <a:prstGeom prst="oval">
            <a:avLst/>
          </a:prstGeom>
          <a:solidFill>
            <a:srgbClr val="34D399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7432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260604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repo create --public --source=. --push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71600" y="3017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Vytvoř GitHub repo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566160"/>
            <a:ext cx="8229600" cy="8686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5800" y="3794760"/>
            <a:ext cx="411480" cy="411480"/>
          </a:xfrm>
          <a:prstGeom prst="oval">
            <a:avLst/>
          </a:prstGeom>
          <a:solidFill>
            <a:srgbClr val="F472B6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7947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365760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vercel.com → Import → Deploy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71600" y="40690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Propoj s Vercelem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931920"/>
            <a:ext cx="8229600" cy="731520"/>
          </a:xfrm>
          <a:prstGeom prst="rect">
            <a:avLst/>
          </a:prstGeom>
          <a:solidFill>
            <a:srgbClr val="0D2818"/>
          </a:solidFill>
          <a:ln/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069080"/>
            <a:ext cx="365760" cy="36576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188720" y="39319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Redeploy = jen git push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188720" y="42976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 &amp;&amp; git commit -m "nová feature" &amp;&amp; git push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4" name="Text 2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7772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54864" cy="777240"/>
          </a:xfrm>
          <a:prstGeom prst="rect">
            <a:avLst/>
          </a:prstGeom>
          <a:solidFill>
            <a:srgbClr val="34D39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53312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2344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Začni produktem, ne kódem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371600" y="16002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PRD → prompt → kód. AI potřebuje jasné zadání.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2103120"/>
            <a:ext cx="8229600" cy="7772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" y="2103120"/>
            <a:ext cx="54864" cy="777240"/>
          </a:xfrm>
          <a:prstGeom prst="rect">
            <a:avLst/>
          </a:prstGeom>
          <a:solidFill>
            <a:srgbClr val="F472B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267712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21488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Deployuj brzo a často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371600" y="25146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Nečekej na "hotovo". Každý push = nová verze.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57200" y="3017520"/>
            <a:ext cx="8229600" cy="7772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57200" y="3017520"/>
            <a:ext cx="54864" cy="777240"/>
          </a:xfrm>
          <a:prstGeom prst="rect">
            <a:avLst/>
          </a:prstGeom>
          <a:solidFill>
            <a:srgbClr val="A78B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182112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71600" y="30632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Iteruj v malých krocích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371600" y="34290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Jeden prompt = jedna feature. Malé kroky, velký pokrok.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57200" y="3931920"/>
            <a:ext cx="8229600" cy="7772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57200" y="3931920"/>
            <a:ext cx="54864" cy="777240"/>
          </a:xfrm>
          <a:prstGeom prst="rect">
            <a:avLst/>
          </a:prstGeom>
          <a:solidFill>
            <a:srgbClr val="FB923C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096512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71600" y="39776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Znát limity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1371600" y="43434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 = prototypy a MVP. Komplexní systémy vyžadují engineering.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5" name="Text 19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Vibe Coding Workshop — Hack Your Way 2026</dc:title>
  <dc:subject>PptxGenJS Presentation</dc:subject>
  <dc:creator>Jiri Semmler</dc:creator>
  <cp:lastModifiedBy>Jiri Semmler</cp:lastModifiedBy>
  <cp:revision>1</cp:revision>
  <dcterms:created xsi:type="dcterms:W3CDTF">2026-04-12T12:44:31Z</dcterms:created>
  <dcterms:modified xsi:type="dcterms:W3CDTF">2026-04-12T12:44:31Z</dcterms:modified>
</cp:coreProperties>
</file>